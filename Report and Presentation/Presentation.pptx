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1" r:id="rId2"/>
    <p:sldId id="274" r:id="rId3"/>
    <p:sldId id="276" r:id="rId4"/>
    <p:sldId id="275" r:id="rId5"/>
    <p:sldId id="277" r:id="rId6"/>
    <p:sldId id="279" r:id="rId7"/>
    <p:sldId id="280" r:id="rId8"/>
    <p:sldId id="278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9" r:id="rId17"/>
    <p:sldId id="288" r:id="rId18"/>
    <p:sldId id="290" r:id="rId19"/>
    <p:sldId id="291" r:id="rId20"/>
    <p:sldId id="292" r:id="rId21"/>
    <p:sldId id="293" r:id="rId22"/>
    <p:sldId id="294" r:id="rId23"/>
    <p:sldId id="273" r:id="rId24"/>
    <p:sldId id="27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748" userDrawn="1">
          <p15:clr>
            <a:srgbClr val="A4A3A4"/>
          </p15:clr>
        </p15:guide>
        <p15:guide id="2" pos="16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436FC1"/>
    <a:srgbClr val="A2A4A4"/>
    <a:srgbClr val="5999D3"/>
    <a:srgbClr val="254175"/>
    <a:srgbClr val="6D6868"/>
    <a:srgbClr val="005296"/>
    <a:srgbClr val="014D8E"/>
    <a:srgbClr val="00589F"/>
    <a:srgbClr val="005FA8"/>
    <a:srgbClr val="005AA5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9770"/>
    <p:restoredTop sz="96208"/>
  </p:normalViewPr>
  <p:slideViewPr>
    <p:cSldViewPr snapToGrid="0" snapToObjects="1" showGuides="1">
      <p:cViewPr>
        <p:scale>
          <a:sx n="70" d="100"/>
          <a:sy n="70" d="100"/>
        </p:scale>
        <p:origin x="-546" y="-168"/>
      </p:cViewPr>
      <p:guideLst>
        <p:guide orient="horz" pos="3748"/>
        <p:guide pos="16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035896B-F54D-CB4E-8E1F-E922CD267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8FB9CB30-EEA7-6C48-BA49-131675470A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30C9555-C9B4-D94D-A6AC-7000721C1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pPr/>
              <a:t>12/23/2022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1E0B8D3-9A29-B64E-B444-0F0A1CB16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15229D4-3156-F845-AAA9-9F4AAF57E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12532848"/>
      </p:ext>
    </p:extLst>
  </p:cSld>
  <p:clrMapOvr>
    <a:masterClrMapping/>
  </p:clrMapOvr>
  <p:transition>
    <p:pull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66D2A24-3BCF-104F-B2B4-808FFA12F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A09C088-CD2E-5547-B2FF-83C53C834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9CFA407-11D9-5947-BBF3-D9FAD7D34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pPr/>
              <a:t>12/23/2022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8D7F927-7DAC-9341-842B-0FD264B3B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125873C-CF74-1049-BA6C-9C81E0EE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933571673"/>
      </p:ext>
    </p:extLst>
  </p:cSld>
  <p:clrMapOvr>
    <a:masterClrMapping/>
  </p:clrMapOvr>
  <p:transition>
    <p:pull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4F1A87C-251F-CB4D-AA3C-16067809D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D1BE4E9-9A6A-714C-9DDC-E4500738C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B349ECF-C4D9-6E4A-840B-E852BB7D8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pPr/>
              <a:t>12/23/2022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EFAB227-288D-904A-95BB-5BE988289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252B549-73B6-8C4B-B667-111ADF176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33415328"/>
      </p:ext>
    </p:extLst>
  </p:cSld>
  <p:clrMapOvr>
    <a:masterClrMapping/>
  </p:clrMapOvr>
  <p:transition>
    <p:pull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7857E6A-42EF-944F-A701-188B72DAC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1611A28-F85A-CD49-95B6-8BDD3110BD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27370336-DDE3-E147-AAC4-D175A5EE41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497FC7F5-0F77-CC4E-A7F3-E09E89CD3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pPr/>
              <a:t>12/23/2022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93B59C2-A178-754D-898A-11EDEB4AD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D5372E9B-7AC7-E942-A5A8-7CF1D9F23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457738522"/>
      </p:ext>
    </p:extLst>
  </p:cSld>
  <p:clrMapOvr>
    <a:masterClrMapping/>
  </p:clrMapOvr>
  <p:transition>
    <p:pull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949D4EE-9647-124A-A396-2CD164183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17BC021-8473-1247-A0A3-6E92389A5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85461C68-B174-6F42-A27E-E6DFD2819B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D6A13931-4430-B94E-B071-1A9E67B5CD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B3A3A001-AFF5-8242-A49C-787813881E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E2947992-8148-4B4B-88CE-1BD94B629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pPr/>
              <a:t>12/23/2022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43778456-4CE9-8E47-A1D5-F506F16D8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08D1E0FB-33FF-614D-A183-66470F06D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885467307"/>
      </p:ext>
    </p:extLst>
  </p:cSld>
  <p:clrMapOvr>
    <a:masterClrMapping/>
  </p:clrMapOvr>
  <p:transition>
    <p:pull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2EBACE1-36CE-3A43-83D4-971EE0EFF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EC14C53A-F68C-C543-B6B1-7918BAF35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pPr/>
              <a:t>12/23/2022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AA0ACA56-584B-8249-9BAB-AD5093169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A7822BB5-F0BF-C94C-BF58-AFC822969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93622208"/>
      </p:ext>
    </p:extLst>
  </p:cSld>
  <p:clrMapOvr>
    <a:masterClrMapping/>
  </p:clrMapOvr>
  <p:transition>
    <p:pull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55068E9B-E8B9-FD4D-B2B9-D4F02F0B2B31}"/>
              </a:ext>
            </a:extLst>
          </p:cNvPr>
          <p:cNvSpPr/>
          <p:nvPr userDrawn="1"/>
        </p:nvSpPr>
        <p:spPr>
          <a:xfrm>
            <a:off x="11328400" y="0"/>
            <a:ext cx="863600" cy="6858000"/>
          </a:xfrm>
          <a:prstGeom prst="rect">
            <a:avLst/>
          </a:prstGeom>
          <a:gradFill>
            <a:gsLst>
              <a:gs pos="37000">
                <a:srgbClr val="0070C0"/>
              </a:gs>
              <a:gs pos="100000">
                <a:srgbClr val="00B0F0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="" xmlns:a16="http://schemas.microsoft.com/office/drawing/2014/main" id="{4B40D476-EEF5-7540-AF03-C95B5E3ABB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7025" t="16383" r="11065" b="12297"/>
          <a:stretch/>
        </p:blipFill>
        <p:spPr>
          <a:xfrm>
            <a:off x="0" y="0"/>
            <a:ext cx="11328400" cy="68580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316404273"/>
      </p:ext>
    </p:extLst>
  </p:cSld>
  <p:clrMapOvr>
    <a:masterClrMapping/>
  </p:clrMapOvr>
  <p:transition>
    <p:pull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="" xmlns:a16="http://schemas.microsoft.com/office/drawing/2014/main" id="{4B40D476-EEF5-7540-AF03-C95B5E3ABB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619" t="13182" r="3002" b="7575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34342655"/>
      </p:ext>
    </p:extLst>
  </p:cSld>
  <p:clrMapOvr>
    <a:masterClrMapping/>
  </p:clrMapOvr>
  <p:transition>
    <p:pull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55068E9B-E8B9-FD4D-B2B9-D4F02F0B2B31}"/>
              </a:ext>
            </a:extLst>
          </p:cNvPr>
          <p:cNvSpPr/>
          <p:nvPr userDrawn="1"/>
        </p:nvSpPr>
        <p:spPr>
          <a:xfrm>
            <a:off x="11328400" y="0"/>
            <a:ext cx="863600" cy="6858000"/>
          </a:xfrm>
          <a:prstGeom prst="rect">
            <a:avLst/>
          </a:prstGeom>
          <a:gradFill>
            <a:gsLst>
              <a:gs pos="37000">
                <a:srgbClr val="0070C0"/>
              </a:gs>
              <a:gs pos="100000">
                <a:srgbClr val="00B0F0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008395178"/>
      </p:ext>
    </p:extLst>
  </p:cSld>
  <p:clrMapOvr>
    <a:masterClrMapping/>
  </p:clrMapOvr>
  <p:transition>
    <p:pull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F1F07356-A34D-4F4D-A489-BAAA1D2552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825" t="12803" r="7288" b="46015"/>
          <a:stretch/>
        </p:blipFill>
        <p:spPr>
          <a:xfrm>
            <a:off x="0" y="0"/>
            <a:ext cx="12192000" cy="361686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="" xmlns:a16="http://schemas.microsoft.com/office/drawing/2014/main" id="{1B503D70-FF35-A949-A3D8-E63C868F36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4686" t="451" r="7375" b="1"/>
          <a:stretch/>
        </p:blipFill>
        <p:spPr>
          <a:xfrm rot="20436793">
            <a:off x="-188402" y="2374729"/>
            <a:ext cx="13432426" cy="5601308"/>
          </a:xfrm>
          <a:custGeom>
            <a:avLst/>
            <a:gdLst>
              <a:gd name="connsiteX0" fmla="*/ 12359125 w 13432426"/>
              <a:gd name="connsiteY0" fmla="*/ 0 h 5601308"/>
              <a:gd name="connsiteX1" fmla="*/ 13432426 w 13432426"/>
              <a:gd name="connsiteY1" fmla="*/ 377691 h 5601308"/>
              <a:gd name="connsiteX2" fmla="*/ 13432426 w 13432426"/>
              <a:gd name="connsiteY2" fmla="*/ 778593 h 5601308"/>
              <a:gd name="connsiteX3" fmla="*/ 11735330 w 13432426"/>
              <a:gd name="connsiteY3" fmla="*/ 5601308 h 5601308"/>
              <a:gd name="connsiteX4" fmla="*/ 9605975 w 13432426"/>
              <a:gd name="connsiteY4" fmla="*/ 5601308 h 5601308"/>
              <a:gd name="connsiteX5" fmla="*/ 0 w 13432426"/>
              <a:gd name="connsiteY5" fmla="*/ 2221001 h 5601308"/>
              <a:gd name="connsiteX6" fmla="*/ 781562 w 13432426"/>
              <a:gd name="connsiteY6" fmla="*/ 0 h 5601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432426" h="5601308">
                <a:moveTo>
                  <a:pt x="12359125" y="0"/>
                </a:moveTo>
                <a:lnTo>
                  <a:pt x="13432426" y="377691"/>
                </a:lnTo>
                <a:lnTo>
                  <a:pt x="13432426" y="778593"/>
                </a:lnTo>
                <a:lnTo>
                  <a:pt x="11735330" y="5601308"/>
                </a:lnTo>
                <a:lnTo>
                  <a:pt x="9605975" y="5601308"/>
                </a:lnTo>
                <a:lnTo>
                  <a:pt x="0" y="2221001"/>
                </a:lnTo>
                <a:lnTo>
                  <a:pt x="781562" y="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="" xmlns:p14="http://schemas.microsoft.com/office/powerpoint/2010/main" val="593606823"/>
      </p:ext>
    </p:extLst>
  </p:cSld>
  <p:clrMapOvr>
    <a:masterClrMapping/>
  </p:clrMapOvr>
  <p:transition>
    <p:pull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55068E9B-E8B9-FD4D-B2B9-D4F02F0B2B31}"/>
              </a:ext>
            </a:extLst>
          </p:cNvPr>
          <p:cNvSpPr/>
          <p:nvPr userDrawn="1"/>
        </p:nvSpPr>
        <p:spPr>
          <a:xfrm>
            <a:off x="11328400" y="0"/>
            <a:ext cx="863600" cy="6858000"/>
          </a:xfrm>
          <a:prstGeom prst="rect">
            <a:avLst/>
          </a:prstGeom>
          <a:gradFill>
            <a:gsLst>
              <a:gs pos="37000">
                <a:srgbClr val="0070C0"/>
              </a:gs>
              <a:gs pos="100000">
                <a:srgbClr val="00B0F0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A18BA7AC-F33E-C740-BF8D-F8385FEFA6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7025" t="16383" r="11065" b="12297"/>
          <a:stretch/>
        </p:blipFill>
        <p:spPr>
          <a:xfrm>
            <a:off x="0" y="0"/>
            <a:ext cx="11328400" cy="6858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="" xmlns:a16="http://schemas.microsoft.com/office/drawing/2014/main" id="{D2832F23-5F8E-C24A-924C-295E5E3C0658}"/>
              </a:ext>
            </a:extLst>
          </p:cNvPr>
          <p:cNvSpPr/>
          <p:nvPr userDrawn="1"/>
        </p:nvSpPr>
        <p:spPr>
          <a:xfrm>
            <a:off x="10778066" y="5338233"/>
            <a:ext cx="1130300" cy="11303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12700" dir="2580000" sx="104000" sy="104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="" xmlns:a16="http://schemas.microsoft.com/office/drawing/2014/main" id="{94B41FC5-8BC2-BB44-AC5B-4D88A06355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62216" y="5520267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250643716"/>
      </p:ext>
    </p:extLst>
  </p:cSld>
  <p:clrMapOvr>
    <a:masterClrMapping/>
  </p:clrMapOvr>
  <p:transition>
    <p:pull dir="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55068E9B-E8B9-FD4D-B2B9-D4F02F0B2B31}"/>
              </a:ext>
            </a:extLst>
          </p:cNvPr>
          <p:cNvSpPr/>
          <p:nvPr userDrawn="1"/>
        </p:nvSpPr>
        <p:spPr>
          <a:xfrm>
            <a:off x="11328400" y="0"/>
            <a:ext cx="863600" cy="6858000"/>
          </a:xfrm>
          <a:prstGeom prst="rect">
            <a:avLst/>
          </a:prstGeom>
          <a:gradFill>
            <a:gsLst>
              <a:gs pos="37000">
                <a:srgbClr val="0070C0"/>
              </a:gs>
              <a:gs pos="100000">
                <a:srgbClr val="00B0F0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D2832F23-5F8E-C24A-924C-295E5E3C0658}"/>
              </a:ext>
            </a:extLst>
          </p:cNvPr>
          <p:cNvSpPr/>
          <p:nvPr userDrawn="1"/>
        </p:nvSpPr>
        <p:spPr>
          <a:xfrm>
            <a:off x="10778066" y="5338233"/>
            <a:ext cx="1130300" cy="11303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12700" dir="2580000" sx="104000" sy="104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="" xmlns:a16="http://schemas.microsoft.com/office/drawing/2014/main" id="{94B41FC5-8BC2-BB44-AC5B-4D88A06355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62216" y="5520267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776564694"/>
      </p:ext>
    </p:extLst>
  </p:cSld>
  <p:clrMapOvr>
    <a:masterClrMapping/>
  </p:clrMapOvr>
  <p:transition>
    <p:pull dir="d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CF31018-2976-AA49-A740-DDC5D6D70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DD3960F-3B9D-134F-920F-56EC4DE58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2899E991-8828-2049-9393-950FD703A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4EED5707-B915-DA47-9178-0C1ABADB0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pPr/>
              <a:t>12/23/2022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D564392B-A7E4-D143-BD60-F9538421A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B5351E37-109A-B343-B780-F7233ACAF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333701738"/>
      </p:ext>
    </p:extLst>
  </p:cSld>
  <p:clrMapOvr>
    <a:masterClrMapping/>
  </p:clrMapOvr>
  <p:transition>
    <p:pull dir="d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F122277-4EFA-E743-8BB3-E6C403E66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3F2D57E5-3218-D44D-89DB-D869107F77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C00F2D83-EAB4-CA44-A7F7-C18A4A7153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7B85B392-C1F3-764E-9AA3-457044F12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pPr/>
              <a:t>12/23/2022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354A54A-FF07-7C48-999A-67D71B4B0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F648022A-1337-0B44-AEA8-E4615BE3D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22958825"/>
      </p:ext>
    </p:extLst>
  </p:cSld>
  <p:clrMapOvr>
    <a:masterClrMapping/>
  </p:clrMapOvr>
  <p:transition>
    <p:pull dir="d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1D33C27-9C65-3E45-873D-7188A5407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58668386-7936-D842-93AB-FC92510A5C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7951898-E20A-7241-B4F6-77B54730E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pPr/>
              <a:t>12/23/2022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1C5934C-A9FF-B24C-8179-DD4A08F83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362683F-F7E4-5848-A263-3A612EE69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205880554"/>
      </p:ext>
    </p:extLst>
  </p:cSld>
  <p:clrMapOvr>
    <a:masterClrMapping/>
  </p:clrMapOvr>
  <p:transition>
    <p:pull dir="d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90D2FD4F-C622-364D-BAB7-1FCE29216D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F006E67C-1202-244C-8382-954898328A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E755452-BB22-FC4D-B6DC-D4C0270D6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pPr/>
              <a:t>12/23/2022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65DABA5-026E-9641-AAB0-00A2093D8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38273DA-7F7F-9343-A113-D4F5DF98B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10168869"/>
      </p:ext>
    </p:extLst>
  </p:cSld>
  <p:clrMapOvr>
    <a:masterClrMapping/>
  </p:clrMapOvr>
  <p:transition>
    <p:pull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1980D5B3-FA64-FD40-A370-F37EF9C6C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2717060-FA86-7942-99EC-88B397F15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69D0105-0DFD-3F40-AA87-1642704DF0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82BF8E-211B-9C43-825C-0671E50D7E39}" type="datetimeFigureOut">
              <a:rPr lang="en-US" smtClean="0"/>
              <a:pPr/>
              <a:t>12/23/2022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F93CF04-95E7-7144-8A2B-1D7ADE9274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FB88691-866E-CF46-9919-541469EDC6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4FFDC9-3D54-674E-86E0-9C3C86728D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97359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7" r:id="rId8"/>
    <p:sldLayoutId id="2147483673" r:id="rId9"/>
    <p:sldLayoutId id="2147483675" r:id="rId10"/>
    <p:sldLayoutId id="2147483674" r:id="rId11"/>
    <p:sldLayoutId id="2147483676" r:id="rId12"/>
    <p:sldLayoutId id="2147483668" r:id="rId13"/>
    <p:sldLayoutId id="2147483669" r:id="rId14"/>
    <p:sldLayoutId id="2147483670" r:id="rId15"/>
    <p:sldLayoutId id="2147483671" r:id="rId16"/>
  </p:sldLayoutIdLst>
  <p:transition>
    <p:pull dir="d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0F8621ED-814E-F441-93A2-B7DC230A7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19" y="595020"/>
            <a:ext cx="3021463" cy="5903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F890AA6-3288-7A41-9F48-31D099259D5C}"/>
              </a:ext>
            </a:extLst>
          </p:cNvPr>
          <p:cNvSpPr txBox="1"/>
          <p:nvPr/>
        </p:nvSpPr>
        <p:spPr>
          <a:xfrm>
            <a:off x="282105" y="1913903"/>
            <a:ext cx="7778162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3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Capstone Presentation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5A740E41-0F8D-4151-979A-4270FBA95E57}"/>
              </a:ext>
            </a:extLst>
          </p:cNvPr>
          <p:cNvSpPr txBox="1"/>
          <p:nvPr/>
        </p:nvSpPr>
        <p:spPr>
          <a:xfrm>
            <a:off x="689316" y="3004457"/>
            <a:ext cx="6456067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i="1" baseline="30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CHURN</a:t>
            </a:r>
            <a:r>
              <a:rPr lang="en-IN" sz="3600" b="1" i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sz="3600" b="1" i="1" baseline="30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PREDICTION</a:t>
            </a:r>
            <a:r>
              <a:rPr lang="en-IN" sz="3600" b="1" i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sz="3600" b="1" i="1" baseline="30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PROJECT </a:t>
            </a:r>
            <a:br>
              <a:rPr lang="en-IN" sz="3600" b="1" i="1" baseline="30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r>
              <a:rPr lang="en-IN" sz="3600" b="1" i="1" baseline="30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Name - SHRADDHA SUMAN GURU </a:t>
            </a:r>
            <a:br>
              <a:rPr lang="en-IN" sz="3600" b="1" i="1" baseline="30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r>
              <a:rPr lang="en-IN" sz="3600" b="1" i="1" baseline="30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Batch - JAN 22A</a:t>
            </a:r>
            <a:endParaRPr lang="en-IN" sz="3600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252274226"/>
      </p:ext>
    </p:extLst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77886" y="723331"/>
            <a:ext cx="4245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  <a:endParaRPr lang="en-IN" sz="4000" u="sng" dirty="0"/>
          </a:p>
        </p:txBody>
      </p:sp>
      <p:sp>
        <p:nvSpPr>
          <p:cNvPr id="3" name="TextBox 2"/>
          <p:cNvSpPr txBox="1"/>
          <p:nvPr/>
        </p:nvSpPr>
        <p:spPr>
          <a:xfrm>
            <a:off x="862149" y="1692322"/>
            <a:ext cx="671430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000" b="1" dirty="0" smtClean="0"/>
              <a:t> 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Business Problem Understanding</a:t>
            </a:r>
          </a:p>
          <a:p>
            <a:pPr lvl="1">
              <a:buFont typeface="Arial" pitchFamily="34" charset="0"/>
              <a:buChar char="•"/>
            </a:pPr>
            <a:r>
              <a:rPr lang="en-IN" sz="2400" dirty="0" smtClean="0">
                <a:latin typeface="Arial" pitchFamily="34" charset="0"/>
                <a:cs typeface="Arial" pitchFamily="34" charset="0"/>
              </a:rPr>
              <a:t> Data Report</a:t>
            </a:r>
          </a:p>
          <a:p>
            <a:pPr lvl="1">
              <a:buFont typeface="Arial" pitchFamily="34" charset="0"/>
              <a:buChar char="•"/>
            </a:pPr>
            <a:r>
              <a:rPr lang="en-IN" sz="2400" dirty="0" smtClean="0">
                <a:latin typeface="Arial" pitchFamily="34" charset="0"/>
                <a:cs typeface="Arial" pitchFamily="34" charset="0"/>
              </a:rPr>
              <a:t> Exploratory Data Analysis</a:t>
            </a:r>
          </a:p>
          <a:p>
            <a:pPr lvl="1">
              <a:buFont typeface="Arial" pitchFamily="34" charset="0"/>
              <a:buChar char="•"/>
            </a:pPr>
            <a:r>
              <a:rPr lang="en-IN" sz="2400" dirty="0" smtClean="0">
                <a:latin typeface="Arial" pitchFamily="34" charset="0"/>
                <a:cs typeface="Arial" pitchFamily="34" charset="0"/>
              </a:rPr>
              <a:t> Business Insights from EDA</a:t>
            </a:r>
          </a:p>
          <a:p>
            <a:pPr lvl="1">
              <a:buFont typeface="Arial" pitchFamily="34" charset="0"/>
              <a:buChar char="•"/>
            </a:pPr>
            <a:r>
              <a:rPr lang="en-IN" sz="2400" dirty="0" smtClean="0">
                <a:latin typeface="Arial" pitchFamily="34" charset="0"/>
                <a:cs typeface="Arial" pitchFamily="34" charset="0"/>
              </a:rPr>
              <a:t> Insights from k-NN Clustering</a:t>
            </a:r>
          </a:p>
          <a:p>
            <a:pPr lvl="1"/>
            <a:endParaRPr lang="en-IN" sz="24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IN" sz="2400" dirty="0" smtClean="0">
                <a:latin typeface="Arial" pitchFamily="34" charset="0"/>
                <a:cs typeface="Arial" pitchFamily="34" charset="0"/>
              </a:rPr>
              <a:t> Model Building and Model Validation</a:t>
            </a:r>
          </a:p>
          <a:p>
            <a:pPr lvl="1">
              <a:buFont typeface="Arial" pitchFamily="34" charset="0"/>
              <a:buChar char="•"/>
            </a:pPr>
            <a:r>
              <a:rPr lang="en-IN" sz="2400" dirty="0" smtClean="0">
                <a:latin typeface="Arial" pitchFamily="34" charset="0"/>
                <a:cs typeface="Arial" pitchFamily="34" charset="0"/>
              </a:rPr>
              <a:t> Artificial Neural Network (ANN) Model</a:t>
            </a:r>
          </a:p>
          <a:p>
            <a:pPr lvl="1"/>
            <a:endParaRPr lang="en-IN" sz="24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IN" sz="2400" dirty="0" smtClean="0">
                <a:latin typeface="Arial" pitchFamily="34" charset="0"/>
                <a:cs typeface="Arial" pitchFamily="34" charset="0"/>
              </a:rPr>
              <a:t> Implications on the business</a:t>
            </a:r>
          </a:p>
          <a:p>
            <a:endParaRPr lang="en-IN" sz="24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IN" sz="240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400" smtClean="0">
                <a:latin typeface="Arial" pitchFamily="34" charset="0"/>
                <a:cs typeface="Arial" pitchFamily="34" charset="0"/>
              </a:rPr>
              <a:t>Recommendation</a:t>
            </a:r>
            <a:endParaRPr lang="en-IN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3902C64F-B802-E343-B318-70D330A9A3FE}"/>
              </a:ext>
            </a:extLst>
          </p:cNvPr>
          <p:cNvSpPr/>
          <p:nvPr/>
        </p:nvSpPr>
        <p:spPr>
          <a:xfrm>
            <a:off x="222070" y="2246811"/>
            <a:ext cx="11390810" cy="907941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n-US" sz="53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</a:t>
            </a:r>
            <a:r>
              <a:rPr lang="en-US" sz="53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Understanding</a:t>
            </a:r>
            <a:endParaRPr lang="en-US" sz="53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3902C64F-B802-E343-B318-70D330A9A3FE}"/>
              </a:ext>
            </a:extLst>
          </p:cNvPr>
          <p:cNvSpPr/>
          <p:nvPr/>
        </p:nvSpPr>
        <p:spPr>
          <a:xfrm>
            <a:off x="1031967" y="750627"/>
            <a:ext cx="9418320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Defining Problem Statement</a:t>
            </a:r>
            <a:endParaRPr lang="en-US" sz="4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31966" y="2103120"/>
            <a:ext cx="941832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>
                <a:latin typeface="Arial" pitchFamily="34" charset="0"/>
                <a:cs typeface="Arial" pitchFamily="34" charset="0"/>
              </a:rPr>
              <a:t>An E Commerce company or DTH provider is facing a lot of competition in the current market and it has become a challenge to retain the existing customers in the current situation. Hence, the company wants to develop a model through which they can do churn prediction of the accounts and provide segmented offers to the potential churners.</a:t>
            </a:r>
          </a:p>
          <a:p>
            <a:endParaRPr lang="en-IN" dirty="0"/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3902C64F-B802-E343-B318-70D330A9A3FE}"/>
              </a:ext>
            </a:extLst>
          </p:cNvPr>
          <p:cNvSpPr/>
          <p:nvPr/>
        </p:nvSpPr>
        <p:spPr>
          <a:xfrm>
            <a:off x="1031967" y="731520"/>
            <a:ext cx="9418320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Report</a:t>
            </a:r>
            <a:endParaRPr lang="en-US" sz="4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8007" y="1636927"/>
            <a:ext cx="5857916" cy="4500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729921" y="1636927"/>
            <a:ext cx="615553" cy="4215232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vert="vert270" wrap="square" rtlCol="0">
            <a:spAutoFit/>
          </a:bodyPr>
          <a:lstStyle/>
          <a:p>
            <a:pPr algn="ctr"/>
            <a:r>
              <a:rPr lang="en-IN" sz="28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Info of the dataset</a:t>
            </a:r>
            <a:endParaRPr lang="en-IN" sz="28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:\Users\india\Music\photo1.pn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24297" y="579235"/>
            <a:ext cx="6198750" cy="5929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236556" y="1483433"/>
            <a:ext cx="2214578" cy="3286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729921" y="777922"/>
            <a:ext cx="615553" cy="4858602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  <p:txBody>
          <a:bodyPr vert="vert270" wrap="square" rtlCol="0">
            <a:spAutoFit/>
          </a:bodyPr>
          <a:lstStyle/>
          <a:p>
            <a:pPr algn="ctr"/>
            <a:r>
              <a:rPr lang="en-IN" sz="28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Null Values Visualisation</a:t>
            </a:r>
            <a:endParaRPr lang="en-IN" sz="28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5859" y="950420"/>
            <a:ext cx="7643865" cy="51637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729920" y="950420"/>
            <a:ext cx="615553" cy="490447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vert="vert270" wrap="square" rtlCol="0">
            <a:spAutoFit/>
          </a:bodyPr>
          <a:lstStyle/>
          <a:p>
            <a:pPr algn="ctr"/>
            <a:r>
              <a:rPr lang="en-IN" sz="28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Description of the dataset</a:t>
            </a:r>
            <a:endParaRPr lang="en-IN" sz="28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3902C64F-B802-E343-B318-70D330A9A3FE}"/>
              </a:ext>
            </a:extLst>
          </p:cNvPr>
          <p:cNvSpPr/>
          <p:nvPr/>
        </p:nvSpPr>
        <p:spPr>
          <a:xfrm>
            <a:off x="1031967" y="638319"/>
            <a:ext cx="9418320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Exploratory Data Analysis</a:t>
            </a:r>
            <a:endParaRPr lang="en-US" sz="4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C:\Users\india\Music\index 2.pn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4904" y="1537275"/>
            <a:ext cx="8625384" cy="4904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724190" y="1537275"/>
            <a:ext cx="615553" cy="490447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vert="vert270" wrap="square" rtlCol="0">
            <a:spAutoFit/>
          </a:bodyPr>
          <a:lstStyle/>
          <a:p>
            <a:pPr algn="ctr"/>
            <a:r>
              <a:rPr lang="en-IN" sz="28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Histograms of the dataset</a:t>
            </a:r>
            <a:endParaRPr lang="en-IN" sz="28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:\Users\india\Music\index.pn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86103" y="1009934"/>
            <a:ext cx="8281228" cy="5227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729919" y="1009934"/>
            <a:ext cx="615553" cy="5227094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vert="vert270" wrap="square" rtlCol="0">
            <a:spAutoFit/>
          </a:bodyPr>
          <a:lstStyle/>
          <a:p>
            <a:pPr algn="ctr"/>
            <a:r>
              <a:rPr lang="en-IN" sz="28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Box plots of the dataset</a:t>
            </a:r>
            <a:endParaRPr lang="en-IN" sz="28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:\Users\india\Music\index1.pn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30247" y="941696"/>
            <a:ext cx="7609288" cy="5246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729919" y="1009935"/>
            <a:ext cx="615553" cy="494049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vert="vert270" wrap="square" rtlCol="0">
            <a:spAutoFit/>
          </a:bodyPr>
          <a:lstStyle/>
          <a:p>
            <a:pPr algn="ctr"/>
            <a:r>
              <a:rPr lang="en-IN" sz="28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Count plots of the dataset</a:t>
            </a:r>
            <a:endParaRPr lang="en-IN" sz="28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:\Users\india\Music\index 3.pn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842087"/>
            <a:ext cx="8332603" cy="5586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729919" y="842087"/>
            <a:ext cx="615553" cy="5108338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vert="vert270" wrap="square" rtlCol="0">
            <a:spAutoFit/>
          </a:bodyPr>
          <a:lstStyle/>
          <a:p>
            <a:pPr algn="ctr"/>
            <a:r>
              <a:rPr lang="en-IN" sz="28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Correlation matrix </a:t>
            </a:r>
            <a:endParaRPr lang="en-IN" sz="28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61025" y="786645"/>
            <a:ext cx="5429288" cy="5643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729918" y="786645"/>
            <a:ext cx="615553" cy="5108338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vert="vert270" wrap="square" rtlCol="0">
            <a:spAutoFit/>
          </a:bodyPr>
          <a:lstStyle/>
          <a:p>
            <a:pPr algn="ctr"/>
            <a:r>
              <a:rPr lang="en-IN" sz="28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Box plot of Churn v/s Tenure</a:t>
            </a:r>
            <a:endParaRPr lang="en-IN" sz="28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60932" y="821190"/>
            <a:ext cx="6750685" cy="5402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729918" y="821190"/>
            <a:ext cx="615553" cy="5108338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vert="vert270" wrap="square" rtlCol="0">
            <a:spAutoFit/>
          </a:bodyPr>
          <a:lstStyle/>
          <a:p>
            <a:pPr algn="ctr"/>
            <a:r>
              <a:rPr lang="en-IN" sz="28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Variable Transformation</a:t>
            </a:r>
            <a:endParaRPr lang="en-IN" sz="28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90219" y="1187978"/>
            <a:ext cx="2714644" cy="4429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729918" y="821190"/>
            <a:ext cx="615553" cy="5108338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vert="vert270" wrap="square" rtlCol="0">
            <a:spAutoFit/>
          </a:bodyPr>
          <a:lstStyle/>
          <a:p>
            <a:pPr algn="ctr"/>
            <a:r>
              <a:rPr lang="en-IN" sz="28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Imputing the null values</a:t>
            </a:r>
            <a:endParaRPr lang="en-IN" sz="28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:\Users\india\Music\index5.pn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79955" y="887105"/>
            <a:ext cx="8246684" cy="51725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729918" y="821190"/>
            <a:ext cx="615553" cy="5108338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vert="vert270" wrap="square" rtlCol="0">
            <a:spAutoFit/>
          </a:bodyPr>
          <a:lstStyle/>
          <a:p>
            <a:pPr algn="ctr"/>
            <a:r>
              <a:rPr lang="en-IN" sz="28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Treating the outliers</a:t>
            </a:r>
            <a:endParaRPr lang="en-IN" sz="28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3902C64F-B802-E343-B318-70D330A9A3FE}"/>
              </a:ext>
            </a:extLst>
          </p:cNvPr>
          <p:cNvSpPr/>
          <p:nvPr/>
        </p:nvSpPr>
        <p:spPr>
          <a:xfrm>
            <a:off x="1031967" y="723331"/>
            <a:ext cx="9418320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Insights from EDA</a:t>
            </a:r>
            <a:endParaRPr lang="en-US" sz="4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31967" y="1774209"/>
            <a:ext cx="9231149" cy="3585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Font typeface="Arial" pitchFamily="34" charset="0"/>
              <a:buChar char="•"/>
            </a:pPr>
            <a:r>
              <a:rPr lang="en-IN" sz="1900" dirty="0" smtClean="0">
                <a:latin typeface="Arial" pitchFamily="34" charset="0"/>
                <a:cs typeface="Arial" pitchFamily="34" charset="0"/>
              </a:rPr>
              <a:t> Married couples visit to buy the products; company should be able to provide products to both males and females i.e. fulfilling needs of the customers.</a:t>
            </a:r>
          </a:p>
          <a:p>
            <a:pPr lvl="0"/>
            <a:endParaRPr lang="en-IN" sz="1900" dirty="0" smtClean="0">
              <a:latin typeface="Arial" pitchFamily="34" charset="0"/>
              <a:cs typeface="Arial" pitchFamily="34" charset="0"/>
            </a:endParaRPr>
          </a:p>
          <a:p>
            <a:pPr lvl="0">
              <a:buFont typeface="Arial" pitchFamily="34" charset="0"/>
              <a:buChar char="•"/>
            </a:pPr>
            <a:r>
              <a:rPr lang="en-US" sz="1900" dirty="0" smtClean="0">
                <a:latin typeface="Arial" pitchFamily="34" charset="0"/>
                <a:cs typeface="Arial" pitchFamily="34" charset="0"/>
              </a:rPr>
              <a:t> We can recommend the company to hire experienced trainees who can help in churn control.</a:t>
            </a:r>
          </a:p>
          <a:p>
            <a:pPr lvl="0">
              <a:buNone/>
            </a:pPr>
            <a:endParaRPr lang="en-IN" sz="1900" dirty="0" smtClean="0">
              <a:latin typeface="Arial" pitchFamily="34" charset="0"/>
              <a:cs typeface="Arial" pitchFamily="34" charset="0"/>
            </a:endParaRPr>
          </a:p>
          <a:p>
            <a:pPr lvl="0">
              <a:buFont typeface="Arial" pitchFamily="34" charset="0"/>
              <a:buChar char="•"/>
            </a:pPr>
            <a:r>
              <a:rPr lang="en-US" sz="1900" dirty="0" smtClean="0">
                <a:latin typeface="Arial" pitchFamily="34" charset="0"/>
                <a:cs typeface="Arial" pitchFamily="34" charset="0"/>
              </a:rPr>
              <a:t> Company should provide basic info of how to deal with customers to employees having low tenure.</a:t>
            </a:r>
          </a:p>
          <a:p>
            <a:pPr lvl="0"/>
            <a:endParaRPr lang="en-IN" sz="1900" dirty="0" smtClean="0">
              <a:latin typeface="Arial" pitchFamily="34" charset="0"/>
              <a:cs typeface="Arial" pitchFamily="34" charset="0"/>
            </a:endParaRPr>
          </a:p>
          <a:p>
            <a:pPr lvl="0">
              <a:buFont typeface="Arial" pitchFamily="34" charset="0"/>
              <a:buChar char="•"/>
            </a:pPr>
            <a:r>
              <a:rPr lang="en-IN" sz="1900" dirty="0" smtClean="0">
                <a:latin typeface="Arial" pitchFamily="34" charset="0"/>
                <a:cs typeface="Arial" pitchFamily="34" charset="0"/>
              </a:rPr>
              <a:t> Company should not spend all of their time and value retaining customers on the verge of being churned; Such customers are five times less than regular customers. </a:t>
            </a:r>
          </a:p>
          <a:p>
            <a:endParaRPr lang="en-IN" dirty="0"/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3902C64F-B802-E343-B318-70D330A9A3FE}"/>
              </a:ext>
            </a:extLst>
          </p:cNvPr>
          <p:cNvSpPr/>
          <p:nvPr/>
        </p:nvSpPr>
        <p:spPr>
          <a:xfrm>
            <a:off x="1031966" y="723331"/>
            <a:ext cx="9418320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Insights from k-NN Clustering</a:t>
            </a:r>
            <a:endParaRPr lang="en-US" sz="4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31967" y="1801504"/>
            <a:ext cx="941831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dirty="0" smtClean="0"/>
              <a:t> 3 segments from Clustering</a:t>
            </a:r>
          </a:p>
          <a:p>
            <a:pPr>
              <a:buFont typeface="Arial" pitchFamily="34" charset="0"/>
              <a:buChar char="•"/>
            </a:pPr>
            <a:endParaRPr lang="en-IN" dirty="0" smtClean="0"/>
          </a:p>
          <a:p>
            <a:pPr>
              <a:buFont typeface="Arial" pitchFamily="34" charset="0"/>
              <a:buChar char="•"/>
            </a:pPr>
            <a:r>
              <a:rPr lang="en-IN" dirty="0" smtClean="0"/>
              <a:t> Segment 1 (Mean Values) :- Tenure- 11 years, revenue (per month)–-5.57 L, Cash back- Rs. 188,      Days since no customer contacted CC – 5 days</a:t>
            </a:r>
          </a:p>
          <a:p>
            <a:pPr>
              <a:buFont typeface="Arial" pitchFamily="34" charset="0"/>
              <a:buChar char="•"/>
            </a:pPr>
            <a:endParaRPr lang="en-IN" dirty="0" smtClean="0"/>
          </a:p>
          <a:p>
            <a:pPr>
              <a:buFont typeface="Arial" pitchFamily="34" charset="0"/>
              <a:buChar char="•"/>
            </a:pPr>
            <a:r>
              <a:rPr lang="en-IN" dirty="0" smtClean="0"/>
              <a:t> Segment 2 (Mean Values) :- Tenure– 18 years, revenue (per month)– 6.08 L, Cash back– Rs. 263, Days since no customer contacted CC – 7 days </a:t>
            </a:r>
          </a:p>
          <a:p>
            <a:pPr>
              <a:buFont typeface="Arial" pitchFamily="34" charset="0"/>
              <a:buChar char="•"/>
            </a:pPr>
            <a:endParaRPr lang="en-IN" dirty="0" smtClean="0"/>
          </a:p>
          <a:p>
            <a:pPr>
              <a:buFont typeface="Arial" pitchFamily="34" charset="0"/>
              <a:buChar char="•"/>
            </a:pPr>
            <a:r>
              <a:rPr lang="en-IN" dirty="0" smtClean="0"/>
              <a:t> Segment 3 (Mean Values) :- Tenure– 7 years, revenue (per month)– 4.83 L, Cash back– Rs. 144, Days since no customer contacted CC – 4 days</a:t>
            </a:r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3902C64F-B802-E343-B318-70D330A9A3FE}"/>
              </a:ext>
            </a:extLst>
          </p:cNvPr>
          <p:cNvSpPr/>
          <p:nvPr/>
        </p:nvSpPr>
        <p:spPr>
          <a:xfrm>
            <a:off x="385842" y="2006221"/>
            <a:ext cx="9044761" cy="1723549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US" sz="53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Building and </a:t>
            </a:r>
          </a:p>
          <a:p>
            <a:pPr algn="ctr"/>
            <a:r>
              <a:rPr lang="en-US" sz="53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Validation</a:t>
            </a:r>
            <a:endParaRPr lang="en-US" sz="53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3902C64F-B802-E343-B318-70D330A9A3FE}"/>
              </a:ext>
            </a:extLst>
          </p:cNvPr>
          <p:cNvSpPr/>
          <p:nvPr/>
        </p:nvSpPr>
        <p:spPr>
          <a:xfrm>
            <a:off x="1031967" y="709684"/>
            <a:ext cx="9418320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Artificial Neural Network (ANN) Model</a:t>
            </a:r>
            <a:endParaRPr lang="en-US" sz="4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7837157" y="2921806"/>
            <a:ext cx="2780799" cy="1542196"/>
          </a:xfrm>
          <a:prstGeom prst="rect">
            <a:avLst/>
          </a:prstGeom>
          <a:noFill/>
          <a:ln w="9525">
            <a:noFill/>
            <a:miter lim="800000"/>
          </a:ln>
        </p:spPr>
      </p:pic>
      <p:sp>
        <p:nvSpPr>
          <p:cNvPr id="5" name="TextBox 4"/>
          <p:cNvSpPr txBox="1"/>
          <p:nvPr/>
        </p:nvSpPr>
        <p:spPr>
          <a:xfrm>
            <a:off x="1236684" y="4763069"/>
            <a:ext cx="4836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Cross Validation Table</a:t>
            </a:r>
            <a:endParaRPr lang="en-IN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7260610" y="4763069"/>
            <a:ext cx="31896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Best parameters</a:t>
            </a:r>
            <a:endParaRPr lang="en-IN" sz="24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0647" y="2921806"/>
            <a:ext cx="6378768" cy="1542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2483329" y="864631"/>
            <a:ext cx="5746269" cy="2260706"/>
          </a:xfrm>
          <a:prstGeom prst="rect">
            <a:avLst/>
          </a:prstGeom>
          <a:noFill/>
          <a:ln w="9525">
            <a:noFill/>
            <a:miter lim="800000"/>
          </a:ln>
        </p:spPr>
      </p:pic>
      <p:pic>
        <p:nvPicPr>
          <p:cNvPr id="3" name="Picture 2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483329" y="3653742"/>
            <a:ext cx="5746269" cy="2214795"/>
          </a:xfrm>
          <a:prstGeom prst="rect">
            <a:avLst/>
          </a:prstGeom>
          <a:noFill/>
          <a:ln w="9525">
            <a:noFill/>
            <a:miter lim="800000"/>
          </a:ln>
        </p:spPr>
      </p:pic>
      <p:sp>
        <p:nvSpPr>
          <p:cNvPr id="4" name="TextBox 3"/>
          <p:cNvSpPr txBox="1"/>
          <p:nvPr/>
        </p:nvSpPr>
        <p:spPr>
          <a:xfrm>
            <a:off x="729918" y="821190"/>
            <a:ext cx="615553" cy="5108338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  <p:txBody>
          <a:bodyPr vert="vert270" wrap="square" rtlCol="0">
            <a:spAutoFit/>
          </a:bodyPr>
          <a:lstStyle/>
          <a:p>
            <a:pPr algn="ctr"/>
            <a:r>
              <a:rPr lang="en-IN" sz="28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Classification Report</a:t>
            </a:r>
            <a:endParaRPr lang="en-IN" sz="28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66328" y="1897039"/>
            <a:ext cx="1637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(Train)</a:t>
            </a:r>
            <a:endParaRPr lang="en-IN" sz="2400" b="1" dirty="0"/>
          </a:p>
        </p:txBody>
      </p:sp>
      <p:sp>
        <p:nvSpPr>
          <p:cNvPr id="6" name="Rectangle 5"/>
          <p:cNvSpPr/>
          <p:nvPr/>
        </p:nvSpPr>
        <p:spPr>
          <a:xfrm>
            <a:off x="8666328" y="4595463"/>
            <a:ext cx="9826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/>
              <a:t>(Test)</a:t>
            </a:r>
            <a:endParaRPr lang="en-IN" sz="2400" b="1" dirty="0"/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345471" y="996288"/>
            <a:ext cx="4584099" cy="3739485"/>
          </a:xfrm>
          <a:prstGeom prst="rect">
            <a:avLst/>
          </a:prstGeom>
          <a:noFill/>
          <a:ln w="9525">
            <a:noFill/>
            <a:miter lim="800000"/>
          </a:ln>
        </p:spPr>
      </p:pic>
      <p:pic>
        <p:nvPicPr>
          <p:cNvPr id="3" name="Picture 2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6420684" y="996288"/>
            <a:ext cx="4333752" cy="3794077"/>
          </a:xfrm>
          <a:prstGeom prst="rect">
            <a:avLst/>
          </a:prstGeom>
          <a:noFill/>
          <a:ln w="9525">
            <a:noFill/>
            <a:miter lim="800000"/>
          </a:ln>
        </p:spPr>
      </p:pic>
      <p:sp>
        <p:nvSpPr>
          <p:cNvPr id="4" name="TextBox 3"/>
          <p:cNvSpPr txBox="1"/>
          <p:nvPr/>
        </p:nvSpPr>
        <p:spPr>
          <a:xfrm>
            <a:off x="729917" y="996288"/>
            <a:ext cx="615553" cy="4203509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  <p:txBody>
          <a:bodyPr vert="vert270" wrap="square" rtlCol="0">
            <a:spAutoFit/>
          </a:bodyPr>
          <a:lstStyle/>
          <a:p>
            <a:pPr algn="ctr"/>
            <a:r>
              <a:rPr lang="en-IN" sz="28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Confusion Matrix</a:t>
            </a:r>
            <a:endParaRPr lang="en-IN" sz="28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83893" y="4995081"/>
            <a:ext cx="1637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Train</a:t>
            </a:r>
            <a:endParaRPr lang="en-IN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7547212" y="4995080"/>
            <a:ext cx="1637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Test</a:t>
            </a:r>
            <a:endParaRPr lang="en-IN" sz="2400" b="1" dirty="0"/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635375" y="1675337"/>
            <a:ext cx="4349247" cy="3442572"/>
          </a:xfrm>
          <a:prstGeom prst="rect">
            <a:avLst/>
          </a:prstGeom>
          <a:noFill/>
          <a:ln w="9525">
            <a:noFill/>
            <a:miter lim="800000"/>
          </a:ln>
        </p:spPr>
      </p:pic>
      <p:pic>
        <p:nvPicPr>
          <p:cNvPr id="3" name="Picture 2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6284873" y="1675337"/>
            <a:ext cx="4565097" cy="3442572"/>
          </a:xfrm>
          <a:prstGeom prst="rect">
            <a:avLst/>
          </a:prstGeom>
          <a:noFill/>
          <a:ln w="9525">
            <a:noFill/>
            <a:miter lim="800000"/>
          </a:ln>
        </p:spPr>
      </p:pic>
      <p:sp>
        <p:nvSpPr>
          <p:cNvPr id="4" name="TextBox 3"/>
          <p:cNvSpPr txBox="1"/>
          <p:nvPr/>
        </p:nvSpPr>
        <p:spPr>
          <a:xfrm>
            <a:off x="729918" y="1351128"/>
            <a:ext cx="615553" cy="3575714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  <p:txBody>
          <a:bodyPr vert="vert270" wrap="square" rtlCol="0">
            <a:spAutoFit/>
          </a:bodyPr>
          <a:lstStyle/>
          <a:p>
            <a:pPr algn="ctr"/>
            <a:r>
              <a:rPr lang="en-IN" sz="28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ROC Curve</a:t>
            </a:r>
            <a:endParaRPr lang="en-IN" sz="28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3902C64F-B802-E343-B318-70D330A9A3FE}"/>
              </a:ext>
            </a:extLst>
          </p:cNvPr>
          <p:cNvSpPr/>
          <p:nvPr/>
        </p:nvSpPr>
        <p:spPr>
          <a:xfrm>
            <a:off x="1050878" y="736979"/>
            <a:ext cx="9416955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Implications on the business</a:t>
            </a:r>
            <a:endParaRPr lang="en-US" sz="4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84B8933-F44C-374A-B677-D79AD8184284}"/>
              </a:ext>
            </a:extLst>
          </p:cNvPr>
          <p:cNvSpPr txBox="1"/>
          <p:nvPr/>
        </p:nvSpPr>
        <p:spPr>
          <a:xfrm>
            <a:off x="859809" y="1978925"/>
            <a:ext cx="943060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Font typeface="Arial" pitchFamily="34" charset="0"/>
              <a:buChar char="•"/>
            </a:pPr>
            <a:r>
              <a:rPr lang="en-IN" sz="2400" dirty="0" smtClean="0"/>
              <a:t> A good recall value implies retention of customers on the verge of being churned. If the recall is poor, it may lead to large loss and downfall of company.</a:t>
            </a:r>
          </a:p>
          <a:p>
            <a:pPr lvl="0"/>
            <a:endParaRPr lang="en-IN" sz="2400" dirty="0" smtClean="0"/>
          </a:p>
          <a:p>
            <a:pPr lvl="0">
              <a:buFont typeface="Arial" pitchFamily="34" charset="0"/>
              <a:buChar char="•"/>
            </a:pPr>
            <a:r>
              <a:rPr lang="en-IN" sz="2400" dirty="0" smtClean="0"/>
              <a:t> Retention of customers will forge customer loyalty into the business.</a:t>
            </a:r>
          </a:p>
          <a:p>
            <a:pPr lvl="0">
              <a:buFont typeface="Arial" pitchFamily="34" charset="0"/>
              <a:buChar char="•"/>
            </a:pPr>
            <a:endParaRPr lang="en-IN" sz="2400" dirty="0" smtClean="0"/>
          </a:p>
          <a:p>
            <a:pPr lvl="0">
              <a:buFont typeface="Arial" pitchFamily="34" charset="0"/>
              <a:buChar char="•"/>
            </a:pPr>
            <a:r>
              <a:rPr lang="en-IN" sz="2400" dirty="0" smtClean="0"/>
              <a:t> This can also link a chance of attracting new customers into the business</a:t>
            </a:r>
            <a:r>
              <a:rPr lang="en-IN" sz="2800" dirty="0" smtClean="0"/>
              <a:t>.</a:t>
            </a:r>
          </a:p>
          <a:p>
            <a:endParaRPr lang="en-IN" sz="2800" dirty="0"/>
          </a:p>
          <a:p>
            <a:pPr>
              <a:buClr>
                <a:srgbClr val="0070C0"/>
              </a:buClr>
            </a:pPr>
            <a:r>
              <a:rPr lang="en-IN" sz="1600" dirty="0">
                <a:solidFill>
                  <a:srgbClr val="6D68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="" xmlns:p14="http://schemas.microsoft.com/office/powerpoint/2010/main" val="2073284924"/>
      </p:ext>
    </p:extLst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3902C64F-B802-E343-B318-70D330A9A3FE}"/>
              </a:ext>
            </a:extLst>
          </p:cNvPr>
          <p:cNvSpPr/>
          <p:nvPr/>
        </p:nvSpPr>
        <p:spPr>
          <a:xfrm>
            <a:off x="1064525" y="736979"/>
            <a:ext cx="9048466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84B8933-F44C-374A-B677-D79AD8184284}"/>
              </a:ext>
            </a:extLst>
          </p:cNvPr>
          <p:cNvSpPr txBox="1"/>
          <p:nvPr/>
        </p:nvSpPr>
        <p:spPr>
          <a:xfrm>
            <a:off x="873457" y="1637731"/>
            <a:ext cx="9239534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800" dirty="0" smtClean="0"/>
              <a:t> </a:t>
            </a:r>
            <a:r>
              <a:rPr lang="en-IN" sz="2400" dirty="0" smtClean="0"/>
              <a:t>Company should provide a internship programme for the employees having low tenure.</a:t>
            </a:r>
          </a:p>
          <a:p>
            <a:pPr>
              <a:buFont typeface="Arial" pitchFamily="34" charset="0"/>
              <a:buChar char="•"/>
            </a:pPr>
            <a:endParaRPr lang="en-IN" sz="2400" dirty="0" smtClean="0"/>
          </a:p>
          <a:p>
            <a:pPr>
              <a:buFont typeface="Arial" pitchFamily="34" charset="0"/>
              <a:buChar char="•"/>
            </a:pPr>
            <a:r>
              <a:rPr lang="en-IN" sz="2400" dirty="0" smtClean="0"/>
              <a:t> Engage employees  with profound knowledge and moderate or high tenure.</a:t>
            </a:r>
          </a:p>
          <a:p>
            <a:pPr>
              <a:buFont typeface="Arial" pitchFamily="34" charset="0"/>
              <a:buChar char="•"/>
            </a:pPr>
            <a:endParaRPr lang="en-IN" sz="2400" dirty="0" smtClean="0"/>
          </a:p>
          <a:p>
            <a:pPr>
              <a:buFont typeface="Arial" pitchFamily="34" charset="0"/>
              <a:buChar char="•"/>
            </a:pPr>
            <a:r>
              <a:rPr lang="en-IN" sz="2400" dirty="0" smtClean="0"/>
              <a:t> Company can provide discounts and lucrative combos to improve their sales.</a:t>
            </a:r>
          </a:p>
          <a:p>
            <a:pPr>
              <a:buFont typeface="Arial" pitchFamily="34" charset="0"/>
              <a:buChar char="•"/>
            </a:pPr>
            <a:endParaRPr lang="en-IN" sz="2800" dirty="0" smtClean="0"/>
          </a:p>
          <a:p>
            <a:pPr>
              <a:buFont typeface="Arial" pitchFamily="34" charset="0"/>
              <a:buChar char="•"/>
            </a:pPr>
            <a:r>
              <a:rPr lang="en-IN" sz="2800" dirty="0" smtClean="0"/>
              <a:t> </a:t>
            </a:r>
            <a:r>
              <a:rPr lang="en-IN" sz="2400" dirty="0" smtClean="0"/>
              <a:t>Company can bring in new and diverse products to attract the attention of customers.</a:t>
            </a:r>
            <a:endParaRPr lang="en-IN" sz="2800" dirty="0" smtClean="0"/>
          </a:p>
        </p:txBody>
      </p:sp>
    </p:spTree>
    <p:extLst>
      <p:ext uri="{BB962C8B-B14F-4D97-AF65-F5344CB8AC3E}">
        <p14:creationId xmlns="" xmlns:p14="http://schemas.microsoft.com/office/powerpoint/2010/main" val="2023734151"/>
      </p:ext>
    </p:extLst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2146</TotalTime>
  <Words>529</Words>
  <Application>Microsoft Office PowerPoint</Application>
  <PresentationFormat>Custom</PresentationFormat>
  <Paragraphs>75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Custom Design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Rashmi P</dc:creator>
  <cp:lastModifiedBy>india</cp:lastModifiedBy>
  <cp:revision>140</cp:revision>
  <dcterms:created xsi:type="dcterms:W3CDTF">2019-12-31T09:37:22Z</dcterms:created>
  <dcterms:modified xsi:type="dcterms:W3CDTF">2022-12-23T13:08:57Z</dcterms:modified>
</cp:coreProperties>
</file>